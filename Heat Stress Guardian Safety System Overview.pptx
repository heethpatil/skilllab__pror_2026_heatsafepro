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ileron Bold" charset="1" panose="00000800000000000000"/>
      <p:regular r:id="rId11"/>
    </p:embeddedFont>
    <p:embeddedFont>
      <p:font typeface="Helvetica Now Display" charset="1" panose="020B0504030202020204"/>
      <p:regular r:id="rId12"/>
    </p:embeddedFont>
    <p:embeddedFont>
      <p:font typeface="Aileron Bold Italics" charset="1" panose="00000800000000000000"/>
      <p:regular r:id="rId13"/>
    </p:embeddedFont>
    <p:embeddedFont>
      <p:font typeface="Helvetica Now Display Bold" charset="1" panose="020B0804030202020204"/>
      <p:regular r:id="rId14"/>
    </p:embeddedFont>
    <p:embeddedFont>
      <p:font typeface="Helvetica Now" charset="1" panose="020B0504030202020204"/>
      <p:regular r:id="rId15"/>
    </p:embeddedFont>
    <p:embeddedFont>
      <p:font typeface="Calibri (MS) Bold" charset="1" panose="020F07020304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069" y="8116546"/>
            <a:ext cx="2399482" cy="2283507"/>
          </a:xfrm>
          <a:custGeom>
            <a:avLst/>
            <a:gdLst/>
            <a:ahLst/>
            <a:cxnLst/>
            <a:rect r="r" b="b" t="t" l="l"/>
            <a:pathLst>
              <a:path h="2283507" w="2399482">
                <a:moveTo>
                  <a:pt x="0" y="0"/>
                </a:moveTo>
                <a:lnTo>
                  <a:pt x="2399482" y="0"/>
                </a:lnTo>
                <a:lnTo>
                  <a:pt x="2399482" y="2283508"/>
                </a:lnTo>
                <a:lnTo>
                  <a:pt x="0" y="2283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2552551" cy="2917201"/>
          </a:xfrm>
          <a:custGeom>
            <a:avLst/>
            <a:gdLst/>
            <a:ahLst/>
            <a:cxnLst/>
            <a:rect r="r" b="b" t="t" l="l"/>
            <a:pathLst>
              <a:path h="2917201" w="2552551">
                <a:moveTo>
                  <a:pt x="0" y="0"/>
                </a:moveTo>
                <a:lnTo>
                  <a:pt x="2552551" y="0"/>
                </a:lnTo>
                <a:lnTo>
                  <a:pt x="2552551" y="2917201"/>
                </a:lnTo>
                <a:lnTo>
                  <a:pt x="0" y="29172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324930" y="4930712"/>
            <a:ext cx="6739226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4"/>
              </a:lnSpc>
            </a:pPr>
            <a:r>
              <a:rPr lang="en-US" b="true" sz="4200" spc="-147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Team  </a:t>
            </a:r>
            <a:r>
              <a:rPr lang="en-US" b="true" sz="4200" spc="-147">
                <a:solidFill>
                  <a:srgbClr val="F37335"/>
                </a:solidFill>
                <a:latin typeface="Aileron Bold"/>
                <a:ea typeface="Aileron Bold"/>
                <a:cs typeface="Aileron Bold"/>
                <a:sym typeface="Aileron Bold"/>
              </a:rPr>
              <a:t>HEATGUARDS</a:t>
            </a:r>
            <a:r>
              <a:rPr lang="en-US" b="true" sz="4200" spc="-147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 |  2026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6275" y="1374774"/>
            <a:ext cx="10676707" cy="593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99"/>
              </a:lnSpc>
            </a:pPr>
            <a:r>
              <a:rPr lang="en-US" sz="9999">
                <a:solidFill>
                  <a:srgbClr val="292B2D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Smart Outdoor </a:t>
            </a:r>
          </a:p>
          <a:p>
            <a:pPr algn="l" marL="0" indent="0" lvl="0">
              <a:lnSpc>
                <a:spcPts val="24999"/>
              </a:lnSpc>
            </a:pPr>
            <a:r>
              <a:rPr lang="en-US" sz="9999">
                <a:solidFill>
                  <a:srgbClr val="292B2D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Protection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54247" y="7962915"/>
            <a:ext cx="11940295" cy="181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  <a:spcBef>
                <a:spcPct val="0"/>
              </a:spcBef>
            </a:pPr>
            <a:r>
              <a:rPr lang="en-US" b="true" sz="2598" spc="-9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Arsalan Lunje- 34</a:t>
            </a:r>
          </a:p>
          <a:p>
            <a:pPr algn="l">
              <a:lnSpc>
                <a:spcPts val="3637"/>
              </a:lnSpc>
              <a:spcBef>
                <a:spcPct val="0"/>
              </a:spcBef>
            </a:pPr>
            <a:r>
              <a:rPr lang="en-US" b="true" sz="2598" spc="-9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Heeth Patil- 42</a:t>
            </a:r>
          </a:p>
          <a:p>
            <a:pPr algn="l">
              <a:lnSpc>
                <a:spcPts val="3637"/>
              </a:lnSpc>
              <a:spcBef>
                <a:spcPct val="0"/>
              </a:spcBef>
            </a:pPr>
            <a:r>
              <a:rPr lang="en-US" b="true" sz="2598" spc="-9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Tanaaz Shaikh- 52</a:t>
            </a:r>
          </a:p>
          <a:p>
            <a:pPr algn="l">
              <a:lnSpc>
                <a:spcPts val="3637"/>
              </a:lnSpc>
              <a:spcBef>
                <a:spcPct val="0"/>
              </a:spcBef>
            </a:pPr>
            <a:r>
              <a:rPr lang="en-US" b="true" sz="2598" spc="-9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Ashish Waghmare- 67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275" y="3589662"/>
            <a:ext cx="4489728" cy="24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  <a:spcBef>
                <a:spcPct val="0"/>
              </a:spcBef>
            </a:pPr>
            <a:r>
              <a:rPr lang="en-US" b="true" sz="14400" spc="-504">
                <a:solidFill>
                  <a:srgbClr val="F37335"/>
                </a:solidFill>
                <a:latin typeface="Aileron Bold"/>
                <a:ea typeface="Aileron Bold"/>
                <a:cs typeface="Aileron Bold"/>
                <a:sym typeface="Aileron Bold"/>
              </a:rPr>
              <a:t>HEAT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4942" y="6888770"/>
            <a:ext cx="2183363" cy="3398230"/>
          </a:xfrm>
          <a:custGeom>
            <a:avLst/>
            <a:gdLst/>
            <a:ahLst/>
            <a:cxnLst/>
            <a:rect r="r" b="b" t="t" l="l"/>
            <a:pathLst>
              <a:path h="3398230" w="2183363">
                <a:moveTo>
                  <a:pt x="0" y="0"/>
                </a:moveTo>
                <a:lnTo>
                  <a:pt x="2183363" y="0"/>
                </a:lnTo>
                <a:lnTo>
                  <a:pt x="2183363" y="3398230"/>
                </a:lnTo>
                <a:lnTo>
                  <a:pt x="0" y="3398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91888" y="2501836"/>
            <a:ext cx="12411036" cy="538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4"/>
              </a:lnSpc>
            </a:pPr>
            <a:r>
              <a:rPr lang="en-US" b="true" sz="4200" spc="-147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In India, more than </a:t>
            </a:r>
            <a:r>
              <a:rPr lang="en-US" b="true" sz="4200" spc="-147">
                <a:solidFill>
                  <a:srgbClr val="F37335"/>
                </a:solidFill>
                <a:latin typeface="Aileron Bold"/>
                <a:ea typeface="Aileron Bold"/>
                <a:cs typeface="Aileron Bold"/>
                <a:sym typeface="Aileron Bold"/>
              </a:rPr>
              <a:t>700 fatalities </a:t>
            </a:r>
            <a:r>
              <a:rPr lang="en-US" b="true" sz="4200" spc="-147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occur each year due to heat-related causes. </a:t>
            </a:r>
          </a:p>
          <a:p>
            <a:pPr algn="l" marL="0" indent="0" lvl="0">
              <a:lnSpc>
                <a:spcPts val="3864"/>
              </a:lnSpc>
            </a:pPr>
          </a:p>
          <a:p>
            <a:pPr algn="l" marL="0" indent="0" lvl="0">
              <a:lnSpc>
                <a:spcPts val="3864"/>
              </a:lnSpc>
            </a:pPr>
            <a:r>
              <a:rPr lang="en-US" b="true" sz="4200" spc="-147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These deaths highlight the severe impact of </a:t>
            </a:r>
            <a:r>
              <a:rPr lang="en-US" b="true" sz="4200" spc="-147">
                <a:solidFill>
                  <a:srgbClr val="F37335"/>
                </a:solidFill>
                <a:latin typeface="Aileron Bold"/>
                <a:ea typeface="Aileron Bold"/>
                <a:cs typeface="Aileron Bold"/>
                <a:sym typeface="Aileron Bold"/>
              </a:rPr>
              <a:t>rising temperatures</a:t>
            </a:r>
            <a:r>
              <a:rPr lang="en-US" b="true" sz="4200" spc="-147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 and the urgent need for effective measures to protect vulnerable populations from extreme heat conditions.</a:t>
            </a:r>
          </a:p>
          <a:p>
            <a:pPr algn="l" marL="0" indent="0" lvl="0">
              <a:lnSpc>
                <a:spcPts val="3864"/>
              </a:lnSpc>
            </a:pPr>
          </a:p>
          <a:p>
            <a:pPr algn="l" marL="0" indent="0" lvl="0">
              <a:lnSpc>
                <a:spcPts val="3864"/>
              </a:lnSpc>
            </a:pPr>
            <a:r>
              <a:rPr lang="en-US" b="true" sz="4200" spc="-147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As climate change continues to exacerbate these conditions, addressing this issue becomes </a:t>
            </a:r>
            <a:r>
              <a:rPr lang="en-US" b="true" sz="4200" spc="-14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even</a:t>
            </a:r>
            <a:r>
              <a:rPr lang="en-US" b="true" sz="4200" spc="-147">
                <a:solidFill>
                  <a:srgbClr val="F37335"/>
                </a:solidFill>
                <a:latin typeface="Aileron Bold"/>
                <a:ea typeface="Aileron Bold"/>
                <a:cs typeface="Aileron Bold"/>
                <a:sym typeface="Aileron Bold"/>
              </a:rPr>
              <a:t> more critical</a:t>
            </a:r>
            <a:r>
              <a:rPr lang="en-US" b="true" sz="4200" spc="-147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 to ensuring </a:t>
            </a:r>
            <a:r>
              <a:rPr lang="en-US" b="true" sz="4200" i="true" spc="-147">
                <a:solidFill>
                  <a:srgbClr val="F37335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public health and safety.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65512" y="165881"/>
            <a:ext cx="1726376" cy="2231181"/>
          </a:xfrm>
          <a:custGeom>
            <a:avLst/>
            <a:gdLst/>
            <a:ahLst/>
            <a:cxnLst/>
            <a:rect r="r" b="b" t="t" l="l"/>
            <a:pathLst>
              <a:path h="2231181" w="1726376">
                <a:moveTo>
                  <a:pt x="1726376" y="0"/>
                </a:moveTo>
                <a:lnTo>
                  <a:pt x="0" y="0"/>
                </a:lnTo>
                <a:lnTo>
                  <a:pt x="0" y="2231181"/>
                </a:lnTo>
                <a:lnTo>
                  <a:pt x="1726376" y="2231181"/>
                </a:lnTo>
                <a:lnTo>
                  <a:pt x="172637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305225" y="9005570"/>
            <a:ext cx="811530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</a:pPr>
            <a:r>
              <a:rPr lang="en-US" b="true" sz="2600">
                <a:solidFill>
                  <a:srgbClr val="F37335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To combat this, we built a real-time safety system.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5992" y="882929"/>
            <a:ext cx="2244074" cy="2675498"/>
          </a:xfrm>
          <a:custGeom>
            <a:avLst/>
            <a:gdLst/>
            <a:ahLst/>
            <a:cxnLst/>
            <a:rect r="r" b="b" t="t" l="l"/>
            <a:pathLst>
              <a:path h="2675498" w="2244074">
                <a:moveTo>
                  <a:pt x="0" y="0"/>
                </a:moveTo>
                <a:lnTo>
                  <a:pt x="2244074" y="0"/>
                </a:lnTo>
                <a:lnTo>
                  <a:pt x="2244074" y="2675497"/>
                </a:lnTo>
                <a:lnTo>
                  <a:pt x="0" y="267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01962" y="4186278"/>
            <a:ext cx="3878926" cy="886968"/>
            <a:chOff x="0" y="0"/>
            <a:chExt cx="5171902" cy="11826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1902" cy="1182624"/>
            </a:xfrm>
            <a:custGeom>
              <a:avLst/>
              <a:gdLst/>
              <a:ahLst/>
              <a:cxnLst/>
              <a:rect r="r" b="b" t="t" l="l"/>
              <a:pathLst>
                <a:path h="1182624" w="5171902">
                  <a:moveTo>
                    <a:pt x="0" y="0"/>
                  </a:moveTo>
                  <a:lnTo>
                    <a:pt x="5171902" y="0"/>
                  </a:lnTo>
                  <a:lnTo>
                    <a:pt x="5171902" y="1182624"/>
                  </a:lnTo>
                  <a:lnTo>
                    <a:pt x="0" y="11826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7536" r="-41441" b="-535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5171902" cy="1258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80"/>
                </a:lnSpc>
              </a:pPr>
              <a:r>
                <a:rPr lang="en-US" b="true" sz="4200" spc="84">
                  <a:solidFill>
                    <a:srgbClr val="F37335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01  REGISTER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71955" y="7730290"/>
            <a:ext cx="1534321" cy="2252214"/>
          </a:xfrm>
          <a:custGeom>
            <a:avLst/>
            <a:gdLst/>
            <a:ahLst/>
            <a:cxnLst/>
            <a:rect r="r" b="b" t="t" l="l"/>
            <a:pathLst>
              <a:path h="2252214" w="1534321">
                <a:moveTo>
                  <a:pt x="0" y="0"/>
                </a:moveTo>
                <a:lnTo>
                  <a:pt x="1534320" y="0"/>
                </a:lnTo>
                <a:lnTo>
                  <a:pt x="1534320" y="2252214"/>
                </a:lnTo>
                <a:lnTo>
                  <a:pt x="0" y="2252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5723" y="7750452"/>
            <a:ext cx="2337227" cy="2232052"/>
          </a:xfrm>
          <a:custGeom>
            <a:avLst/>
            <a:gdLst/>
            <a:ahLst/>
            <a:cxnLst/>
            <a:rect r="r" b="b" t="t" l="l"/>
            <a:pathLst>
              <a:path h="2232052" w="2337227">
                <a:moveTo>
                  <a:pt x="0" y="0"/>
                </a:moveTo>
                <a:lnTo>
                  <a:pt x="2337227" y="0"/>
                </a:lnTo>
                <a:lnTo>
                  <a:pt x="2337227" y="2232052"/>
                </a:lnTo>
                <a:lnTo>
                  <a:pt x="0" y="2232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118686" y="7750452"/>
            <a:ext cx="2446157" cy="2277983"/>
          </a:xfrm>
          <a:custGeom>
            <a:avLst/>
            <a:gdLst/>
            <a:ahLst/>
            <a:cxnLst/>
            <a:rect r="r" b="b" t="t" l="l"/>
            <a:pathLst>
              <a:path h="2277983" w="2446157">
                <a:moveTo>
                  <a:pt x="0" y="0"/>
                </a:moveTo>
                <a:lnTo>
                  <a:pt x="2446157" y="0"/>
                </a:lnTo>
                <a:lnTo>
                  <a:pt x="2446157" y="2277984"/>
                </a:lnTo>
                <a:lnTo>
                  <a:pt x="0" y="22779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9139238" y="4890747"/>
            <a:ext cx="9525" cy="44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559432" y="1416294"/>
            <a:ext cx="7604403" cy="12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  <a:spcBef>
                <a:spcPct val="0"/>
              </a:spcBef>
            </a:pPr>
            <a:r>
              <a:rPr lang="en-US" sz="7599" spc="-265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HOW IT WORKS?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49450" y="4235427"/>
            <a:ext cx="256246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 spc="84">
                <a:solidFill>
                  <a:srgbClr val="F37335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02 SENSE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75147" y="4235427"/>
            <a:ext cx="253317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spc="84">
                <a:solidFill>
                  <a:srgbClr val="F37335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03 ALERT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49450" y="5090772"/>
            <a:ext cx="4341378" cy="273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  <a:spcBef>
                <a:spcPct val="0"/>
              </a:spcBef>
            </a:pPr>
            <a:r>
              <a:rPr lang="en-US" b="true" sz="2598" spc="-9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The DHT11 sensor measures temperature and humidity every two seconds, the sensor detects sunlight, and the RP2040 computes the heat index.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75147" y="5090772"/>
            <a:ext cx="4131102" cy="227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  <a:spcBef>
                <a:spcPct val="0"/>
              </a:spcBef>
            </a:pPr>
            <a:r>
              <a:rPr lang="en-US" b="true" sz="2598" spc="-9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If heat index crosses 39°C, buzzer fires at supervisor station. Red LED lights up. Serial monitor shows worker ID + exact danger level.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1962" y="5016096"/>
            <a:ext cx="3188024" cy="273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  <a:spcBef>
                <a:spcPct val="0"/>
              </a:spcBef>
            </a:pPr>
            <a:r>
              <a:rPr lang="en-US" b="true" sz="2598" spc="-9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Each worker taps their RFID card at the start of shift. The RP2040 logs them in. Monitoring activates only then.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8143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6613274"/>
            <a:ext cx="7016115" cy="2645026"/>
            <a:chOff x="0" y="0"/>
            <a:chExt cx="1111692" cy="419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1692" cy="419100"/>
            </a:xfrm>
            <a:custGeom>
              <a:avLst/>
              <a:gdLst/>
              <a:ahLst/>
              <a:cxnLst/>
              <a:rect r="r" b="b" t="t" l="l"/>
              <a:pathLst>
                <a:path h="419100" w="1111692">
                  <a:moveTo>
                    <a:pt x="21552" y="0"/>
                  </a:moveTo>
                  <a:lnTo>
                    <a:pt x="1090140" y="0"/>
                  </a:lnTo>
                  <a:cubicBezTo>
                    <a:pt x="1095856" y="0"/>
                    <a:pt x="1101338" y="2271"/>
                    <a:pt x="1105380" y="6312"/>
                  </a:cubicBezTo>
                  <a:cubicBezTo>
                    <a:pt x="1109421" y="10354"/>
                    <a:pt x="1111692" y="15836"/>
                    <a:pt x="1111692" y="21552"/>
                  </a:cubicBezTo>
                  <a:lnTo>
                    <a:pt x="1111692" y="397548"/>
                  </a:lnTo>
                  <a:cubicBezTo>
                    <a:pt x="1111692" y="403264"/>
                    <a:pt x="1109421" y="408746"/>
                    <a:pt x="1105380" y="412788"/>
                  </a:cubicBezTo>
                  <a:cubicBezTo>
                    <a:pt x="1101338" y="416829"/>
                    <a:pt x="1095856" y="419100"/>
                    <a:pt x="1090140" y="419100"/>
                  </a:cubicBezTo>
                  <a:lnTo>
                    <a:pt x="21552" y="419100"/>
                  </a:lnTo>
                  <a:cubicBezTo>
                    <a:pt x="15836" y="419100"/>
                    <a:pt x="10354" y="416829"/>
                    <a:pt x="6312" y="412788"/>
                  </a:cubicBezTo>
                  <a:cubicBezTo>
                    <a:pt x="2271" y="408746"/>
                    <a:pt x="0" y="403264"/>
                    <a:pt x="0" y="397548"/>
                  </a:cubicBezTo>
                  <a:lnTo>
                    <a:pt x="0" y="21552"/>
                  </a:lnTo>
                  <a:cubicBezTo>
                    <a:pt x="0" y="15836"/>
                    <a:pt x="2271" y="10354"/>
                    <a:pt x="6312" y="6312"/>
                  </a:cubicBezTo>
                  <a:cubicBezTo>
                    <a:pt x="10354" y="2271"/>
                    <a:pt x="15836" y="0"/>
                    <a:pt x="21552" y="0"/>
                  </a:cubicBezTo>
                  <a:close/>
                </a:path>
              </a:pathLst>
            </a:custGeom>
            <a:solidFill>
              <a:srgbClr val="F8AA1B">
                <a:alpha val="24706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11692" cy="428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78562" y="6577903"/>
            <a:ext cx="7016115" cy="2645026"/>
            <a:chOff x="0" y="0"/>
            <a:chExt cx="1111692" cy="419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692" cy="419100"/>
            </a:xfrm>
            <a:custGeom>
              <a:avLst/>
              <a:gdLst/>
              <a:ahLst/>
              <a:cxnLst/>
              <a:rect r="r" b="b" t="t" l="l"/>
              <a:pathLst>
                <a:path h="419100" w="1111692">
                  <a:moveTo>
                    <a:pt x="21552" y="0"/>
                  </a:moveTo>
                  <a:lnTo>
                    <a:pt x="1090140" y="0"/>
                  </a:lnTo>
                  <a:cubicBezTo>
                    <a:pt x="1095856" y="0"/>
                    <a:pt x="1101338" y="2271"/>
                    <a:pt x="1105380" y="6312"/>
                  </a:cubicBezTo>
                  <a:cubicBezTo>
                    <a:pt x="1109421" y="10354"/>
                    <a:pt x="1111692" y="15836"/>
                    <a:pt x="1111692" y="21552"/>
                  </a:cubicBezTo>
                  <a:lnTo>
                    <a:pt x="1111692" y="397548"/>
                  </a:lnTo>
                  <a:cubicBezTo>
                    <a:pt x="1111692" y="403264"/>
                    <a:pt x="1109421" y="408746"/>
                    <a:pt x="1105380" y="412788"/>
                  </a:cubicBezTo>
                  <a:cubicBezTo>
                    <a:pt x="1101338" y="416829"/>
                    <a:pt x="1095856" y="419100"/>
                    <a:pt x="1090140" y="419100"/>
                  </a:cubicBezTo>
                  <a:lnTo>
                    <a:pt x="21552" y="419100"/>
                  </a:lnTo>
                  <a:cubicBezTo>
                    <a:pt x="15836" y="419100"/>
                    <a:pt x="10354" y="416829"/>
                    <a:pt x="6312" y="412788"/>
                  </a:cubicBezTo>
                  <a:cubicBezTo>
                    <a:pt x="2271" y="408746"/>
                    <a:pt x="0" y="403264"/>
                    <a:pt x="0" y="397548"/>
                  </a:cubicBezTo>
                  <a:lnTo>
                    <a:pt x="0" y="21552"/>
                  </a:lnTo>
                  <a:cubicBezTo>
                    <a:pt x="0" y="15836"/>
                    <a:pt x="2271" y="10354"/>
                    <a:pt x="6312" y="6312"/>
                  </a:cubicBezTo>
                  <a:cubicBezTo>
                    <a:pt x="10354" y="2271"/>
                    <a:pt x="15836" y="0"/>
                    <a:pt x="21552" y="0"/>
                  </a:cubicBezTo>
                  <a:close/>
                </a:path>
              </a:pathLst>
            </a:custGeom>
            <a:solidFill>
              <a:srgbClr val="FF6B35">
                <a:alpha val="2470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692" cy="428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93405" y="2811651"/>
            <a:ext cx="7038079" cy="2653306"/>
            <a:chOff x="0" y="0"/>
            <a:chExt cx="1111692" cy="419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1692" cy="419100"/>
            </a:xfrm>
            <a:custGeom>
              <a:avLst/>
              <a:gdLst/>
              <a:ahLst/>
              <a:cxnLst/>
              <a:rect r="r" b="b" t="t" l="l"/>
              <a:pathLst>
                <a:path h="419100" w="1111692">
                  <a:moveTo>
                    <a:pt x="21484" y="0"/>
                  </a:moveTo>
                  <a:lnTo>
                    <a:pt x="1090207" y="0"/>
                  </a:lnTo>
                  <a:cubicBezTo>
                    <a:pt x="1102073" y="0"/>
                    <a:pt x="1111692" y="9619"/>
                    <a:pt x="1111692" y="21484"/>
                  </a:cubicBezTo>
                  <a:lnTo>
                    <a:pt x="1111692" y="397616"/>
                  </a:lnTo>
                  <a:cubicBezTo>
                    <a:pt x="1111692" y="409481"/>
                    <a:pt x="1102073" y="419100"/>
                    <a:pt x="1090207" y="419100"/>
                  </a:cubicBezTo>
                  <a:lnTo>
                    <a:pt x="21484" y="419100"/>
                  </a:lnTo>
                  <a:cubicBezTo>
                    <a:pt x="9619" y="419100"/>
                    <a:pt x="0" y="409481"/>
                    <a:pt x="0" y="397616"/>
                  </a:cubicBezTo>
                  <a:lnTo>
                    <a:pt x="0" y="21484"/>
                  </a:lnTo>
                  <a:cubicBezTo>
                    <a:pt x="0" y="9619"/>
                    <a:pt x="9619" y="0"/>
                    <a:pt x="21484" y="0"/>
                  </a:cubicBezTo>
                  <a:close/>
                </a:path>
              </a:pathLst>
            </a:custGeom>
            <a:solidFill>
              <a:srgbClr val="F8AA1B">
                <a:alpha val="2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111692" cy="428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2840226"/>
            <a:ext cx="7016115" cy="2645026"/>
            <a:chOff x="0" y="0"/>
            <a:chExt cx="1111692" cy="419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1692" cy="419100"/>
            </a:xfrm>
            <a:custGeom>
              <a:avLst/>
              <a:gdLst/>
              <a:ahLst/>
              <a:cxnLst/>
              <a:rect r="r" b="b" t="t" l="l"/>
              <a:pathLst>
                <a:path h="419100" w="1111692">
                  <a:moveTo>
                    <a:pt x="21552" y="0"/>
                  </a:moveTo>
                  <a:lnTo>
                    <a:pt x="1090140" y="0"/>
                  </a:lnTo>
                  <a:cubicBezTo>
                    <a:pt x="1095856" y="0"/>
                    <a:pt x="1101338" y="2271"/>
                    <a:pt x="1105380" y="6312"/>
                  </a:cubicBezTo>
                  <a:cubicBezTo>
                    <a:pt x="1109421" y="10354"/>
                    <a:pt x="1111692" y="15836"/>
                    <a:pt x="1111692" y="21552"/>
                  </a:cubicBezTo>
                  <a:lnTo>
                    <a:pt x="1111692" y="397548"/>
                  </a:lnTo>
                  <a:cubicBezTo>
                    <a:pt x="1111692" y="403264"/>
                    <a:pt x="1109421" y="408746"/>
                    <a:pt x="1105380" y="412788"/>
                  </a:cubicBezTo>
                  <a:cubicBezTo>
                    <a:pt x="1101338" y="416829"/>
                    <a:pt x="1095856" y="419100"/>
                    <a:pt x="1090140" y="419100"/>
                  </a:cubicBezTo>
                  <a:lnTo>
                    <a:pt x="21552" y="419100"/>
                  </a:lnTo>
                  <a:cubicBezTo>
                    <a:pt x="15836" y="419100"/>
                    <a:pt x="10354" y="416829"/>
                    <a:pt x="6312" y="412788"/>
                  </a:cubicBezTo>
                  <a:cubicBezTo>
                    <a:pt x="2271" y="408746"/>
                    <a:pt x="0" y="403264"/>
                    <a:pt x="0" y="397548"/>
                  </a:cubicBezTo>
                  <a:lnTo>
                    <a:pt x="0" y="21552"/>
                  </a:lnTo>
                  <a:cubicBezTo>
                    <a:pt x="0" y="15836"/>
                    <a:pt x="2271" y="10354"/>
                    <a:pt x="6312" y="6312"/>
                  </a:cubicBezTo>
                  <a:cubicBezTo>
                    <a:pt x="10354" y="2271"/>
                    <a:pt x="15836" y="0"/>
                    <a:pt x="21552" y="0"/>
                  </a:cubicBezTo>
                  <a:close/>
                </a:path>
              </a:pathLst>
            </a:custGeom>
            <a:solidFill>
              <a:srgbClr val="F37335">
                <a:alpha val="2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11692" cy="428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212138" y="4105569"/>
            <a:ext cx="2075862" cy="2075862"/>
          </a:xfrm>
          <a:custGeom>
            <a:avLst/>
            <a:gdLst/>
            <a:ahLst/>
            <a:cxnLst/>
            <a:rect r="r" b="b" t="t" l="l"/>
            <a:pathLst>
              <a:path h="2075862" w="2075862">
                <a:moveTo>
                  <a:pt x="0" y="0"/>
                </a:moveTo>
                <a:lnTo>
                  <a:pt x="2075862" y="0"/>
                </a:lnTo>
                <a:lnTo>
                  <a:pt x="2075862" y="2075862"/>
                </a:lnTo>
                <a:lnTo>
                  <a:pt x="0" y="2075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616762" y="8935974"/>
            <a:ext cx="2671169" cy="2380680"/>
          </a:xfrm>
          <a:custGeom>
            <a:avLst/>
            <a:gdLst/>
            <a:ahLst/>
            <a:cxnLst/>
            <a:rect r="r" b="b" t="t" l="l"/>
            <a:pathLst>
              <a:path h="2380680" w="2671169">
                <a:moveTo>
                  <a:pt x="0" y="0"/>
                </a:moveTo>
                <a:lnTo>
                  <a:pt x="2671170" y="0"/>
                </a:lnTo>
                <a:lnTo>
                  <a:pt x="2671170" y="2380680"/>
                </a:lnTo>
                <a:lnTo>
                  <a:pt x="0" y="23806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8" id="18"/>
          <p:cNvGrpSpPr/>
          <p:nvPr/>
        </p:nvGrpSpPr>
        <p:grpSpPr>
          <a:xfrm rot="0">
            <a:off x="548640" y="1922778"/>
            <a:ext cx="7315200" cy="888873"/>
            <a:chOff x="0" y="0"/>
            <a:chExt cx="9753600" cy="11851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0" cy="1185164"/>
            </a:xfrm>
            <a:custGeom>
              <a:avLst/>
              <a:gdLst/>
              <a:ahLst/>
              <a:cxnLst/>
              <a:rect r="r" b="b" t="t" l="l"/>
              <a:pathLst>
                <a:path h="11851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85164"/>
                  </a:lnTo>
                  <a:lnTo>
                    <a:pt x="0" y="11851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4351" r="0" b="-963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9753600" cy="1185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630">
                  <a:solidFill>
                    <a:srgbClr val="F37335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WORKER WRISTBAND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0080" y="5697098"/>
            <a:ext cx="7315200" cy="888873"/>
            <a:chOff x="0" y="0"/>
            <a:chExt cx="9753600" cy="11851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1185164"/>
            </a:xfrm>
            <a:custGeom>
              <a:avLst/>
              <a:gdLst/>
              <a:ahLst/>
              <a:cxnLst/>
              <a:rect r="r" b="b" t="t" l="l"/>
              <a:pathLst>
                <a:path h="118516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85164"/>
                  </a:lnTo>
                  <a:lnTo>
                    <a:pt x="0" y="11851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4351" r="0" b="-9636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753600" cy="1185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630">
                  <a:solidFill>
                    <a:srgbClr val="F37335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SUPERVISOR STATION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6805046"/>
            <a:ext cx="6949440" cy="675513"/>
            <a:chOff x="0" y="0"/>
            <a:chExt cx="9265920" cy="9006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65920" cy="900684"/>
            </a:xfrm>
            <a:custGeom>
              <a:avLst/>
              <a:gdLst/>
              <a:ahLst/>
              <a:cxnLst/>
              <a:rect r="r" b="b" t="t" l="l"/>
              <a:pathLst>
                <a:path h="900684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00684"/>
                  </a:lnTo>
                  <a:lnTo>
                    <a:pt x="0" y="9006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138" r="0" b="-14377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265920" cy="910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RFID RC522  —  Worker registration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7607808"/>
            <a:ext cx="6949440" cy="585216"/>
            <a:chOff x="0" y="0"/>
            <a:chExt cx="926592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2659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Red/Green LED  —  Status indicator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8350758"/>
            <a:ext cx="6949440" cy="585216"/>
            <a:chOff x="0" y="0"/>
            <a:chExt cx="9265920" cy="78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0" cy="780288"/>
            </a:xfrm>
            <a:custGeom>
              <a:avLst/>
              <a:gdLst/>
              <a:ahLst/>
              <a:cxnLst/>
              <a:rect r="r" b="b" t="t" l="l"/>
              <a:pathLst>
                <a:path h="78028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1384" r="0" b="-18138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26592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Buzzer + Serial monitor  —  Alert output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282247" y="3587367"/>
            <a:ext cx="1005840" cy="914400"/>
            <a:chOff x="0" y="0"/>
            <a:chExt cx="134112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3411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⟶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88087" y="1902591"/>
            <a:ext cx="7680960" cy="888873"/>
            <a:chOff x="0" y="0"/>
            <a:chExt cx="10241280" cy="11851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1185164"/>
            </a:xfrm>
            <a:custGeom>
              <a:avLst/>
              <a:gdLst/>
              <a:ahLst/>
              <a:cxnLst/>
              <a:rect r="r" b="b" t="t" l="l"/>
              <a:pathLst>
                <a:path h="11851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85164"/>
                  </a:lnTo>
                  <a:lnTo>
                    <a:pt x="0" y="11851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9283" r="0" b="-10746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0241280" cy="1185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630">
                  <a:solidFill>
                    <a:srgbClr val="FF6B35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RP2040 SHRIKE LITE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88087" y="5689033"/>
            <a:ext cx="7680960" cy="888870"/>
            <a:chOff x="0" y="0"/>
            <a:chExt cx="10241280" cy="1185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1185160"/>
            </a:xfrm>
            <a:custGeom>
              <a:avLst/>
              <a:gdLst/>
              <a:ahLst/>
              <a:cxnLst/>
              <a:rect r="r" b="b" t="t" l="l"/>
              <a:pathLst>
                <a:path h="11851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85160"/>
                  </a:lnTo>
                  <a:lnTo>
                    <a:pt x="0" y="1185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9283" r="0" b="-10746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0241280" cy="1185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b="true" sz="4199" spc="629">
                  <a:solidFill>
                    <a:srgbClr val="F37335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WHY HEAT INDEX?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596925" y="6585971"/>
            <a:ext cx="6863451" cy="2514781"/>
            <a:chOff x="0" y="0"/>
            <a:chExt cx="9495755" cy="347926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495755" cy="3479262"/>
            </a:xfrm>
            <a:custGeom>
              <a:avLst/>
              <a:gdLst/>
              <a:ahLst/>
              <a:cxnLst/>
              <a:rect r="r" b="b" t="t" l="l"/>
              <a:pathLst>
                <a:path h="3479262" w="9495755">
                  <a:moveTo>
                    <a:pt x="0" y="0"/>
                  </a:moveTo>
                  <a:lnTo>
                    <a:pt x="9495755" y="0"/>
                  </a:lnTo>
                  <a:lnTo>
                    <a:pt x="9495755" y="3479262"/>
                  </a:lnTo>
                  <a:lnTo>
                    <a:pt x="0" y="347926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43" r="-7851" b="-816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23825"/>
              <a:ext cx="9495755" cy="3603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02"/>
                </a:lnSpc>
              </a:pPr>
              <a:r>
                <a:rPr lang="en-US" b="true" sz="23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38°C at 90% humidity  =  Feels like 51°C  =  FATAL</a:t>
              </a:r>
            </a:p>
            <a:p>
              <a:pPr algn="l">
                <a:lnSpc>
                  <a:spcPts val="4002"/>
                </a:lnSpc>
              </a:pPr>
              <a:r>
                <a:rPr lang="en-US" b="true" sz="23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38°C at 30% humidity  =  Feels like 37°C  =  SAFE</a:t>
              </a:r>
            </a:p>
            <a:p>
              <a:pPr algn="l">
                <a:lnSpc>
                  <a:spcPts val="4002"/>
                </a:lnSpc>
              </a:pPr>
              <a:r>
                <a:rPr lang="en-US" b="true" sz="23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 basic thermometer cannot tell the difference.</a:t>
              </a:r>
            </a:p>
            <a:p>
              <a:pPr algn="l">
                <a:lnSpc>
                  <a:spcPts val="4002"/>
                </a:lnSpc>
              </a:pPr>
              <a:r>
                <a:rPr lang="en-US" b="true" sz="23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Our device can.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346619" y="500641"/>
            <a:ext cx="22039646" cy="12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9"/>
              </a:lnSpc>
              <a:spcBef>
                <a:spcPct val="0"/>
              </a:spcBef>
            </a:pPr>
            <a:r>
              <a:rPr lang="en-US" sz="7599" spc="-265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COMPONENTS &amp; ARCHITECTURE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288087" y="2981639"/>
            <a:ext cx="6943397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Reads DHT11 and LDR every 2 seconds  </a:t>
            </a:r>
          </a:p>
          <a:p>
            <a:pPr algn="l" marL="561339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Calculates Heat Index using temperature and humidity  </a:t>
            </a:r>
          </a:p>
          <a:p>
            <a:pPr algn="l" marL="561339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Checks RFID registration status  </a:t>
            </a:r>
          </a:p>
          <a:p>
            <a:pPr algn="l" marL="561339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Triggers alerts based on thresholds  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Powered by a 9V battery 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40080" y="3237228"/>
            <a:ext cx="7016115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Components Overview: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DHT11: Measures temperature and humidity.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LDR: Detects sunlight.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Buzzer: Alerts workers.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61346" y="337568"/>
            <a:ext cx="16824960" cy="1606168"/>
            <a:chOff x="0" y="0"/>
            <a:chExt cx="22433280" cy="21415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2141557"/>
            </a:xfrm>
            <a:custGeom>
              <a:avLst/>
              <a:gdLst/>
              <a:ahLst/>
              <a:cxnLst/>
              <a:rect r="r" b="b" t="t" l="l"/>
              <a:pathLst>
                <a:path h="2141557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41557"/>
                  </a:lnTo>
                  <a:lnTo>
                    <a:pt x="0" y="2141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951" r="0" b="-13826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433280" cy="2141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19"/>
                </a:lnSpc>
              </a:pPr>
              <a:r>
                <a:rPr lang="en-US" sz="7599">
                  <a:solidFill>
                    <a:srgbClr val="000000"/>
                  </a:solidFill>
                  <a:latin typeface="Helvetica Now Display"/>
                  <a:ea typeface="Helvetica Now Display"/>
                  <a:cs typeface="Helvetica Now Display"/>
                  <a:sym typeface="Helvetica Now Display"/>
                </a:rPr>
                <a:t>RESULTS &amp; 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44226" y="2444750"/>
            <a:ext cx="8229600" cy="640080"/>
            <a:chOff x="0" y="0"/>
            <a:chExt cx="109728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 spc="519">
                  <a:solidFill>
                    <a:srgbClr val="F37335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WHAT THE DEMO SHOWS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823" y="3335280"/>
            <a:ext cx="8150857" cy="4138930"/>
            <a:chOff x="0" y="0"/>
            <a:chExt cx="10867809" cy="551857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80607"/>
              <a:ext cx="619087" cy="619087"/>
              <a:chOff x="0" y="0"/>
              <a:chExt cx="619087" cy="61908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16891" y="16891"/>
                <a:ext cx="585216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585216">
                    <a:moveTo>
                      <a:pt x="0" y="292608"/>
                    </a:moveTo>
                    <a:cubicBezTo>
                      <a:pt x="0" y="131064"/>
                      <a:pt x="131064" y="0"/>
                      <a:pt x="292608" y="0"/>
                    </a:cubicBezTo>
                    <a:cubicBezTo>
                      <a:pt x="454152" y="0"/>
                      <a:pt x="585216" y="131064"/>
                      <a:pt x="585216" y="292608"/>
                    </a:cubicBezTo>
                    <a:cubicBezTo>
                      <a:pt x="585216" y="454152"/>
                      <a:pt x="454279" y="585216"/>
                      <a:pt x="292608" y="585216"/>
                    </a:cubicBezTo>
                    <a:cubicBezTo>
                      <a:pt x="130937" y="585216"/>
                      <a:pt x="0" y="454279"/>
                      <a:pt x="0" y="292608"/>
                    </a:cubicBezTo>
                    <a:close/>
                  </a:path>
                </a:pathLst>
              </a:custGeom>
              <a:solidFill>
                <a:srgbClr val="FF6B35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19125" cy="618998"/>
              </a:xfrm>
              <a:custGeom>
                <a:avLst/>
                <a:gdLst/>
                <a:ahLst/>
                <a:cxnLst/>
                <a:rect r="r" b="b" t="t" l="l"/>
                <a:pathLst>
                  <a:path h="618998" w="619125">
                    <a:moveTo>
                      <a:pt x="0" y="309499"/>
                    </a:moveTo>
                    <a:cubicBezTo>
                      <a:pt x="0" y="138557"/>
                      <a:pt x="138557" y="0"/>
                      <a:pt x="309499" y="0"/>
                    </a:cubicBezTo>
                    <a:lnTo>
                      <a:pt x="309499" y="16891"/>
                    </a:lnTo>
                    <a:lnTo>
                      <a:pt x="309499" y="0"/>
                    </a:lnTo>
                    <a:cubicBezTo>
                      <a:pt x="480441" y="0"/>
                      <a:pt x="619125" y="138557"/>
                      <a:pt x="619125" y="309499"/>
                    </a:cubicBezTo>
                    <a:lnTo>
                      <a:pt x="602107" y="309499"/>
                    </a:lnTo>
                    <a:lnTo>
                      <a:pt x="618998" y="309499"/>
                    </a:lnTo>
                    <a:cubicBezTo>
                      <a:pt x="618998" y="480441"/>
                      <a:pt x="480441" y="618998"/>
                      <a:pt x="309499" y="618998"/>
                    </a:cubicBezTo>
                    <a:lnTo>
                      <a:pt x="309499" y="602107"/>
                    </a:lnTo>
                    <a:lnTo>
                      <a:pt x="309499" y="618998"/>
                    </a:lnTo>
                    <a:cubicBezTo>
                      <a:pt x="138557" y="619125"/>
                      <a:pt x="0" y="480441"/>
                      <a:pt x="0" y="309499"/>
                    </a:cubicBezTo>
                    <a:lnTo>
                      <a:pt x="16891" y="309499"/>
                    </a:lnTo>
                    <a:lnTo>
                      <a:pt x="33909" y="309499"/>
                    </a:lnTo>
                    <a:lnTo>
                      <a:pt x="16891" y="309499"/>
                    </a:lnTo>
                    <a:lnTo>
                      <a:pt x="0" y="309499"/>
                    </a:lnTo>
                    <a:moveTo>
                      <a:pt x="33909" y="309499"/>
                    </a:moveTo>
                    <a:cubicBezTo>
                      <a:pt x="33909" y="318897"/>
                      <a:pt x="26289" y="326390"/>
                      <a:pt x="17018" y="326390"/>
                    </a:cubicBezTo>
                    <a:cubicBezTo>
                      <a:pt x="7747" y="326390"/>
                      <a:pt x="0" y="318897"/>
                      <a:pt x="0" y="309499"/>
                    </a:cubicBezTo>
                    <a:cubicBezTo>
                      <a:pt x="0" y="300101"/>
                      <a:pt x="7620" y="292608"/>
                      <a:pt x="16891" y="292608"/>
                    </a:cubicBezTo>
                    <a:cubicBezTo>
                      <a:pt x="26162" y="292608"/>
                      <a:pt x="33782" y="300228"/>
                      <a:pt x="33782" y="309499"/>
                    </a:cubicBezTo>
                    <a:cubicBezTo>
                      <a:pt x="33782" y="461772"/>
                      <a:pt x="157226" y="585216"/>
                      <a:pt x="309499" y="585216"/>
                    </a:cubicBezTo>
                    <a:cubicBezTo>
                      <a:pt x="461772" y="585216"/>
                      <a:pt x="585216" y="461772"/>
                      <a:pt x="585216" y="309499"/>
                    </a:cubicBezTo>
                    <a:cubicBezTo>
                      <a:pt x="585216" y="157226"/>
                      <a:pt x="461772" y="33782"/>
                      <a:pt x="309499" y="33782"/>
                    </a:cubicBezTo>
                    <a:lnTo>
                      <a:pt x="309499" y="16891"/>
                    </a:lnTo>
                    <a:lnTo>
                      <a:pt x="309499" y="33909"/>
                    </a:lnTo>
                    <a:cubicBezTo>
                      <a:pt x="157226" y="33909"/>
                      <a:pt x="33782" y="157353"/>
                      <a:pt x="33782" y="309626"/>
                    </a:cubicBezTo>
                    <a:close/>
                  </a:path>
                </a:pathLst>
              </a:custGeom>
              <a:solidFill>
                <a:srgbClr val="FF6B35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870369" y="0"/>
              <a:ext cx="9997440" cy="1129453"/>
              <a:chOff x="0" y="0"/>
              <a:chExt cx="9997440" cy="112945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997440" cy="1129453"/>
              </a:xfrm>
              <a:custGeom>
                <a:avLst/>
                <a:gdLst/>
                <a:ahLst/>
                <a:cxnLst/>
                <a:rect r="r" b="b" t="t" l="l"/>
                <a:pathLst>
                  <a:path h="1129453" w="999744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1129453"/>
                    </a:lnTo>
                    <a:lnTo>
                      <a:pt x="0" y="112945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34692" r="0" b="-110254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9997440" cy="113897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1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Worker taps RFID — system registers, monitoring starts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543647"/>
              <a:ext cx="619087" cy="619087"/>
              <a:chOff x="0" y="0"/>
              <a:chExt cx="619087" cy="61908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16891" y="16891"/>
                <a:ext cx="585216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585216">
                    <a:moveTo>
                      <a:pt x="0" y="292608"/>
                    </a:moveTo>
                    <a:cubicBezTo>
                      <a:pt x="0" y="131064"/>
                      <a:pt x="131064" y="0"/>
                      <a:pt x="292608" y="0"/>
                    </a:cubicBezTo>
                    <a:cubicBezTo>
                      <a:pt x="454152" y="0"/>
                      <a:pt x="585216" y="131064"/>
                      <a:pt x="585216" y="292608"/>
                    </a:cubicBezTo>
                    <a:cubicBezTo>
                      <a:pt x="585216" y="454152"/>
                      <a:pt x="454279" y="585216"/>
                      <a:pt x="292608" y="585216"/>
                    </a:cubicBezTo>
                    <a:cubicBezTo>
                      <a:pt x="130937" y="585216"/>
                      <a:pt x="0" y="454279"/>
                      <a:pt x="0" y="292608"/>
                    </a:cubicBezTo>
                    <a:close/>
                  </a:path>
                </a:pathLst>
              </a:custGeom>
              <a:solidFill>
                <a:srgbClr val="FF6B35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19125" cy="618998"/>
              </a:xfrm>
              <a:custGeom>
                <a:avLst/>
                <a:gdLst/>
                <a:ahLst/>
                <a:cxnLst/>
                <a:rect r="r" b="b" t="t" l="l"/>
                <a:pathLst>
                  <a:path h="618998" w="619125">
                    <a:moveTo>
                      <a:pt x="0" y="309499"/>
                    </a:moveTo>
                    <a:cubicBezTo>
                      <a:pt x="0" y="138557"/>
                      <a:pt x="138557" y="0"/>
                      <a:pt x="309499" y="0"/>
                    </a:cubicBezTo>
                    <a:lnTo>
                      <a:pt x="309499" y="16891"/>
                    </a:lnTo>
                    <a:lnTo>
                      <a:pt x="309499" y="0"/>
                    </a:lnTo>
                    <a:cubicBezTo>
                      <a:pt x="480441" y="0"/>
                      <a:pt x="619125" y="138557"/>
                      <a:pt x="619125" y="309499"/>
                    </a:cubicBezTo>
                    <a:lnTo>
                      <a:pt x="602107" y="309499"/>
                    </a:lnTo>
                    <a:lnTo>
                      <a:pt x="618998" y="309499"/>
                    </a:lnTo>
                    <a:cubicBezTo>
                      <a:pt x="618998" y="480441"/>
                      <a:pt x="480441" y="618998"/>
                      <a:pt x="309499" y="618998"/>
                    </a:cubicBezTo>
                    <a:lnTo>
                      <a:pt x="309499" y="602107"/>
                    </a:lnTo>
                    <a:lnTo>
                      <a:pt x="309499" y="618998"/>
                    </a:lnTo>
                    <a:cubicBezTo>
                      <a:pt x="138557" y="619125"/>
                      <a:pt x="0" y="480441"/>
                      <a:pt x="0" y="309499"/>
                    </a:cubicBezTo>
                    <a:lnTo>
                      <a:pt x="16891" y="309499"/>
                    </a:lnTo>
                    <a:lnTo>
                      <a:pt x="33909" y="309499"/>
                    </a:lnTo>
                    <a:lnTo>
                      <a:pt x="16891" y="309499"/>
                    </a:lnTo>
                    <a:lnTo>
                      <a:pt x="0" y="309499"/>
                    </a:lnTo>
                    <a:moveTo>
                      <a:pt x="33909" y="309499"/>
                    </a:moveTo>
                    <a:cubicBezTo>
                      <a:pt x="33909" y="318897"/>
                      <a:pt x="26289" y="326390"/>
                      <a:pt x="17018" y="326390"/>
                    </a:cubicBezTo>
                    <a:cubicBezTo>
                      <a:pt x="7747" y="326390"/>
                      <a:pt x="0" y="318897"/>
                      <a:pt x="0" y="309499"/>
                    </a:cubicBezTo>
                    <a:cubicBezTo>
                      <a:pt x="0" y="300101"/>
                      <a:pt x="7620" y="292608"/>
                      <a:pt x="16891" y="292608"/>
                    </a:cubicBezTo>
                    <a:cubicBezTo>
                      <a:pt x="26162" y="292608"/>
                      <a:pt x="33782" y="300228"/>
                      <a:pt x="33782" y="309499"/>
                    </a:cubicBezTo>
                    <a:cubicBezTo>
                      <a:pt x="33782" y="461772"/>
                      <a:pt x="157226" y="585216"/>
                      <a:pt x="309499" y="585216"/>
                    </a:cubicBezTo>
                    <a:cubicBezTo>
                      <a:pt x="461772" y="585216"/>
                      <a:pt x="585216" y="461772"/>
                      <a:pt x="585216" y="309499"/>
                    </a:cubicBezTo>
                    <a:cubicBezTo>
                      <a:pt x="585216" y="157226"/>
                      <a:pt x="461772" y="33782"/>
                      <a:pt x="309499" y="33782"/>
                    </a:cubicBezTo>
                    <a:lnTo>
                      <a:pt x="309499" y="16891"/>
                    </a:lnTo>
                    <a:lnTo>
                      <a:pt x="309499" y="33909"/>
                    </a:lnTo>
                    <a:cubicBezTo>
                      <a:pt x="157226" y="33909"/>
                      <a:pt x="33782" y="157353"/>
                      <a:pt x="33782" y="309626"/>
                    </a:cubicBezTo>
                    <a:close/>
                  </a:path>
                </a:pathLst>
              </a:custGeom>
              <a:solidFill>
                <a:srgbClr val="FF6B35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870369" y="1463040"/>
              <a:ext cx="9997440" cy="1129453"/>
              <a:chOff x="0" y="0"/>
              <a:chExt cx="9997440" cy="112945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997440" cy="1129453"/>
              </a:xfrm>
              <a:custGeom>
                <a:avLst/>
                <a:gdLst/>
                <a:ahLst/>
                <a:cxnLst/>
                <a:rect r="r" b="b" t="t" l="l"/>
                <a:pathLst>
                  <a:path h="1129453" w="999744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1129453"/>
                    </a:lnTo>
                    <a:lnTo>
                      <a:pt x="0" y="112945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34692" r="0" b="-110254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9997440" cy="113897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1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DHT11 + LDR feeds live data to serial monitor every 2 seconds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3006687"/>
              <a:ext cx="619087" cy="619087"/>
              <a:chOff x="0" y="0"/>
              <a:chExt cx="619087" cy="61908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6891" y="16891"/>
                <a:ext cx="585216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585216">
                    <a:moveTo>
                      <a:pt x="0" y="292608"/>
                    </a:moveTo>
                    <a:cubicBezTo>
                      <a:pt x="0" y="131064"/>
                      <a:pt x="131064" y="0"/>
                      <a:pt x="292608" y="0"/>
                    </a:cubicBezTo>
                    <a:cubicBezTo>
                      <a:pt x="454152" y="0"/>
                      <a:pt x="585216" y="131064"/>
                      <a:pt x="585216" y="292608"/>
                    </a:cubicBezTo>
                    <a:cubicBezTo>
                      <a:pt x="585216" y="454152"/>
                      <a:pt x="454279" y="585216"/>
                      <a:pt x="292608" y="585216"/>
                    </a:cubicBezTo>
                    <a:cubicBezTo>
                      <a:pt x="130937" y="585216"/>
                      <a:pt x="0" y="454279"/>
                      <a:pt x="0" y="292608"/>
                    </a:cubicBezTo>
                    <a:close/>
                  </a:path>
                </a:pathLst>
              </a:custGeom>
              <a:solidFill>
                <a:srgbClr val="FF6B35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19125" cy="618998"/>
              </a:xfrm>
              <a:custGeom>
                <a:avLst/>
                <a:gdLst/>
                <a:ahLst/>
                <a:cxnLst/>
                <a:rect r="r" b="b" t="t" l="l"/>
                <a:pathLst>
                  <a:path h="618998" w="619125">
                    <a:moveTo>
                      <a:pt x="0" y="309499"/>
                    </a:moveTo>
                    <a:cubicBezTo>
                      <a:pt x="0" y="138557"/>
                      <a:pt x="138557" y="0"/>
                      <a:pt x="309499" y="0"/>
                    </a:cubicBezTo>
                    <a:lnTo>
                      <a:pt x="309499" y="16891"/>
                    </a:lnTo>
                    <a:lnTo>
                      <a:pt x="309499" y="0"/>
                    </a:lnTo>
                    <a:cubicBezTo>
                      <a:pt x="480441" y="0"/>
                      <a:pt x="619125" y="138557"/>
                      <a:pt x="619125" y="309499"/>
                    </a:cubicBezTo>
                    <a:lnTo>
                      <a:pt x="602107" y="309499"/>
                    </a:lnTo>
                    <a:lnTo>
                      <a:pt x="618998" y="309499"/>
                    </a:lnTo>
                    <a:cubicBezTo>
                      <a:pt x="618998" y="480441"/>
                      <a:pt x="480441" y="618998"/>
                      <a:pt x="309499" y="618998"/>
                    </a:cubicBezTo>
                    <a:lnTo>
                      <a:pt x="309499" y="602107"/>
                    </a:lnTo>
                    <a:lnTo>
                      <a:pt x="309499" y="618998"/>
                    </a:lnTo>
                    <a:cubicBezTo>
                      <a:pt x="138557" y="619125"/>
                      <a:pt x="0" y="480441"/>
                      <a:pt x="0" y="309499"/>
                    </a:cubicBezTo>
                    <a:lnTo>
                      <a:pt x="16891" y="309499"/>
                    </a:lnTo>
                    <a:lnTo>
                      <a:pt x="33909" y="309499"/>
                    </a:lnTo>
                    <a:lnTo>
                      <a:pt x="16891" y="309499"/>
                    </a:lnTo>
                    <a:lnTo>
                      <a:pt x="0" y="309499"/>
                    </a:lnTo>
                    <a:moveTo>
                      <a:pt x="33909" y="309499"/>
                    </a:moveTo>
                    <a:cubicBezTo>
                      <a:pt x="33909" y="318897"/>
                      <a:pt x="26289" y="326390"/>
                      <a:pt x="17018" y="326390"/>
                    </a:cubicBezTo>
                    <a:cubicBezTo>
                      <a:pt x="7747" y="326390"/>
                      <a:pt x="0" y="318897"/>
                      <a:pt x="0" y="309499"/>
                    </a:cubicBezTo>
                    <a:cubicBezTo>
                      <a:pt x="0" y="300101"/>
                      <a:pt x="7620" y="292608"/>
                      <a:pt x="16891" y="292608"/>
                    </a:cubicBezTo>
                    <a:cubicBezTo>
                      <a:pt x="26162" y="292608"/>
                      <a:pt x="33782" y="300228"/>
                      <a:pt x="33782" y="309499"/>
                    </a:cubicBezTo>
                    <a:cubicBezTo>
                      <a:pt x="33782" y="461772"/>
                      <a:pt x="157226" y="585216"/>
                      <a:pt x="309499" y="585216"/>
                    </a:cubicBezTo>
                    <a:cubicBezTo>
                      <a:pt x="461772" y="585216"/>
                      <a:pt x="585216" y="461772"/>
                      <a:pt x="585216" y="309499"/>
                    </a:cubicBezTo>
                    <a:cubicBezTo>
                      <a:pt x="585216" y="157226"/>
                      <a:pt x="461772" y="33782"/>
                      <a:pt x="309499" y="33782"/>
                    </a:cubicBezTo>
                    <a:lnTo>
                      <a:pt x="309499" y="16891"/>
                    </a:lnTo>
                    <a:lnTo>
                      <a:pt x="309499" y="33909"/>
                    </a:lnTo>
                    <a:cubicBezTo>
                      <a:pt x="157226" y="33909"/>
                      <a:pt x="33782" y="157353"/>
                      <a:pt x="33782" y="309626"/>
                    </a:cubicBezTo>
                    <a:close/>
                  </a:path>
                </a:pathLst>
              </a:custGeom>
              <a:solidFill>
                <a:srgbClr val="FF6B35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870369" y="2926080"/>
              <a:ext cx="9997440" cy="1129453"/>
              <a:chOff x="0" y="0"/>
              <a:chExt cx="9997440" cy="112945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997440" cy="1129453"/>
              </a:xfrm>
              <a:custGeom>
                <a:avLst/>
                <a:gdLst/>
                <a:ahLst/>
                <a:cxnLst/>
                <a:rect r="r" b="b" t="t" l="l"/>
                <a:pathLst>
                  <a:path h="1129453" w="999744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1129453"/>
                    </a:lnTo>
                    <a:lnTo>
                      <a:pt x="0" y="112945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34692" r="0" b="-110254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"/>
                <a:ext cx="9997440" cy="113897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1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Heat Index calculated in real time from both readings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4469727"/>
              <a:ext cx="619087" cy="619087"/>
              <a:chOff x="0" y="0"/>
              <a:chExt cx="619087" cy="61908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6891" y="16891"/>
                <a:ext cx="585216" cy="585216"/>
              </a:xfrm>
              <a:custGeom>
                <a:avLst/>
                <a:gdLst/>
                <a:ahLst/>
                <a:cxnLst/>
                <a:rect r="r" b="b" t="t" l="l"/>
                <a:pathLst>
                  <a:path h="585216" w="585216">
                    <a:moveTo>
                      <a:pt x="0" y="292608"/>
                    </a:moveTo>
                    <a:cubicBezTo>
                      <a:pt x="0" y="131064"/>
                      <a:pt x="131064" y="0"/>
                      <a:pt x="292608" y="0"/>
                    </a:cubicBezTo>
                    <a:cubicBezTo>
                      <a:pt x="454152" y="0"/>
                      <a:pt x="585216" y="131064"/>
                      <a:pt x="585216" y="292608"/>
                    </a:cubicBezTo>
                    <a:cubicBezTo>
                      <a:pt x="585216" y="454152"/>
                      <a:pt x="454279" y="585216"/>
                      <a:pt x="292608" y="585216"/>
                    </a:cubicBezTo>
                    <a:cubicBezTo>
                      <a:pt x="130937" y="585216"/>
                      <a:pt x="0" y="454279"/>
                      <a:pt x="0" y="292608"/>
                    </a:cubicBezTo>
                    <a:close/>
                  </a:path>
                </a:pathLst>
              </a:custGeom>
              <a:solidFill>
                <a:srgbClr val="FF6B35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19125" cy="618998"/>
              </a:xfrm>
              <a:custGeom>
                <a:avLst/>
                <a:gdLst/>
                <a:ahLst/>
                <a:cxnLst/>
                <a:rect r="r" b="b" t="t" l="l"/>
                <a:pathLst>
                  <a:path h="618998" w="619125">
                    <a:moveTo>
                      <a:pt x="0" y="309499"/>
                    </a:moveTo>
                    <a:cubicBezTo>
                      <a:pt x="0" y="138557"/>
                      <a:pt x="138557" y="0"/>
                      <a:pt x="309499" y="0"/>
                    </a:cubicBezTo>
                    <a:lnTo>
                      <a:pt x="309499" y="16891"/>
                    </a:lnTo>
                    <a:lnTo>
                      <a:pt x="309499" y="0"/>
                    </a:lnTo>
                    <a:cubicBezTo>
                      <a:pt x="480441" y="0"/>
                      <a:pt x="619125" y="138557"/>
                      <a:pt x="619125" y="309499"/>
                    </a:cubicBezTo>
                    <a:lnTo>
                      <a:pt x="602107" y="309499"/>
                    </a:lnTo>
                    <a:lnTo>
                      <a:pt x="618998" y="309499"/>
                    </a:lnTo>
                    <a:cubicBezTo>
                      <a:pt x="618998" y="480441"/>
                      <a:pt x="480441" y="618998"/>
                      <a:pt x="309499" y="618998"/>
                    </a:cubicBezTo>
                    <a:lnTo>
                      <a:pt x="309499" y="602107"/>
                    </a:lnTo>
                    <a:lnTo>
                      <a:pt x="309499" y="618998"/>
                    </a:lnTo>
                    <a:cubicBezTo>
                      <a:pt x="138557" y="619125"/>
                      <a:pt x="0" y="480441"/>
                      <a:pt x="0" y="309499"/>
                    </a:cubicBezTo>
                    <a:lnTo>
                      <a:pt x="16891" y="309499"/>
                    </a:lnTo>
                    <a:lnTo>
                      <a:pt x="33909" y="309499"/>
                    </a:lnTo>
                    <a:lnTo>
                      <a:pt x="16891" y="309499"/>
                    </a:lnTo>
                    <a:lnTo>
                      <a:pt x="0" y="309499"/>
                    </a:lnTo>
                    <a:moveTo>
                      <a:pt x="33909" y="309499"/>
                    </a:moveTo>
                    <a:cubicBezTo>
                      <a:pt x="33909" y="318897"/>
                      <a:pt x="26289" y="326390"/>
                      <a:pt x="17018" y="326390"/>
                    </a:cubicBezTo>
                    <a:cubicBezTo>
                      <a:pt x="7747" y="326390"/>
                      <a:pt x="0" y="318897"/>
                      <a:pt x="0" y="309499"/>
                    </a:cubicBezTo>
                    <a:cubicBezTo>
                      <a:pt x="0" y="300101"/>
                      <a:pt x="7620" y="292608"/>
                      <a:pt x="16891" y="292608"/>
                    </a:cubicBezTo>
                    <a:cubicBezTo>
                      <a:pt x="26162" y="292608"/>
                      <a:pt x="33782" y="300228"/>
                      <a:pt x="33782" y="309499"/>
                    </a:cubicBezTo>
                    <a:cubicBezTo>
                      <a:pt x="33782" y="461772"/>
                      <a:pt x="157226" y="585216"/>
                      <a:pt x="309499" y="585216"/>
                    </a:cubicBezTo>
                    <a:cubicBezTo>
                      <a:pt x="461772" y="585216"/>
                      <a:pt x="585216" y="461772"/>
                      <a:pt x="585216" y="309499"/>
                    </a:cubicBezTo>
                    <a:cubicBezTo>
                      <a:pt x="585216" y="157226"/>
                      <a:pt x="461772" y="33782"/>
                      <a:pt x="309499" y="33782"/>
                    </a:cubicBezTo>
                    <a:lnTo>
                      <a:pt x="309499" y="16891"/>
                    </a:lnTo>
                    <a:lnTo>
                      <a:pt x="309499" y="33909"/>
                    </a:lnTo>
                    <a:cubicBezTo>
                      <a:pt x="157226" y="33909"/>
                      <a:pt x="33782" y="157353"/>
                      <a:pt x="33782" y="309626"/>
                    </a:cubicBezTo>
                    <a:close/>
                  </a:path>
                </a:pathLst>
              </a:custGeom>
              <a:solidFill>
                <a:srgbClr val="FF6B35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870369" y="4389120"/>
              <a:ext cx="9997440" cy="1129453"/>
              <a:chOff x="0" y="0"/>
              <a:chExt cx="9997440" cy="112945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997440" cy="1129453"/>
              </a:xfrm>
              <a:custGeom>
                <a:avLst/>
                <a:gdLst/>
                <a:ahLst/>
                <a:cxnLst/>
                <a:rect r="r" b="b" t="t" l="l"/>
                <a:pathLst>
                  <a:path h="1129453" w="999744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1129453"/>
                    </a:lnTo>
                    <a:lnTo>
                      <a:pt x="0" y="112945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34692" r="0" b="-110254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9525"/>
                <a:ext cx="9997440" cy="113897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1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Threshold crossed — buzzer fires, red LED triggers</a:t>
                </a: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718823" y="7706368"/>
            <a:ext cx="464315" cy="464315"/>
            <a:chOff x="0" y="0"/>
            <a:chExt cx="619087" cy="6190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71600" y="7651750"/>
            <a:ext cx="7498080" cy="847090"/>
            <a:chOff x="0" y="0"/>
            <a:chExt cx="9997440" cy="112945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1129453"/>
            </a:xfrm>
            <a:custGeom>
              <a:avLst/>
              <a:gdLst/>
              <a:ahLst/>
              <a:cxnLst/>
              <a:rect r="r" b="b" t="t" l="l"/>
              <a:pathLst>
                <a:path h="1129453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29453"/>
                  </a:lnTo>
                  <a:lnTo>
                    <a:pt x="0" y="11294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692" r="0" b="-11025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997440" cy="11389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Conditions safe — green LED, system auto-resets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73826" y="1920237"/>
            <a:ext cx="48748" cy="7829296"/>
            <a:chOff x="0" y="0"/>
            <a:chExt cx="64093" cy="102937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1416" y="16529"/>
              <a:ext cx="41201" cy="10260629"/>
            </a:xfrm>
            <a:custGeom>
              <a:avLst/>
              <a:gdLst/>
              <a:ahLst/>
              <a:cxnLst/>
              <a:rect r="r" b="b" t="t" l="l"/>
              <a:pathLst>
                <a:path h="10260629" w="41201">
                  <a:moveTo>
                    <a:pt x="0" y="0"/>
                  </a:moveTo>
                  <a:lnTo>
                    <a:pt x="41201" y="0"/>
                  </a:lnTo>
                  <a:lnTo>
                    <a:pt x="41201" y="10260630"/>
                  </a:lnTo>
                  <a:lnTo>
                    <a:pt x="0" y="10260630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33" cy="10293688"/>
            </a:xfrm>
            <a:custGeom>
              <a:avLst/>
              <a:gdLst/>
              <a:ahLst/>
              <a:cxnLst/>
              <a:rect r="r" b="b" t="t" l="l"/>
              <a:pathLst>
                <a:path h="10293688" w="64033">
                  <a:moveTo>
                    <a:pt x="11416" y="0"/>
                  </a:moveTo>
                  <a:lnTo>
                    <a:pt x="52617" y="0"/>
                  </a:lnTo>
                  <a:cubicBezTo>
                    <a:pt x="58969" y="0"/>
                    <a:pt x="64033" y="7457"/>
                    <a:pt x="64033" y="16529"/>
                  </a:cubicBezTo>
                  <a:lnTo>
                    <a:pt x="64033" y="10277159"/>
                  </a:lnTo>
                  <a:cubicBezTo>
                    <a:pt x="64033" y="10286356"/>
                    <a:pt x="58883" y="10293688"/>
                    <a:pt x="52617" y="10293688"/>
                  </a:cubicBezTo>
                  <a:lnTo>
                    <a:pt x="11416" y="10293688"/>
                  </a:lnTo>
                  <a:cubicBezTo>
                    <a:pt x="5064" y="10293688"/>
                    <a:pt x="0" y="10286231"/>
                    <a:pt x="0" y="10277159"/>
                  </a:cubicBezTo>
                  <a:lnTo>
                    <a:pt x="0" y="16529"/>
                  </a:lnTo>
                  <a:cubicBezTo>
                    <a:pt x="0" y="7457"/>
                    <a:pt x="5150" y="0"/>
                    <a:pt x="11416" y="0"/>
                  </a:cubicBezTo>
                  <a:moveTo>
                    <a:pt x="11416" y="33183"/>
                  </a:moveTo>
                  <a:lnTo>
                    <a:pt x="11416" y="16529"/>
                  </a:lnTo>
                  <a:lnTo>
                    <a:pt x="22918" y="16529"/>
                  </a:lnTo>
                  <a:lnTo>
                    <a:pt x="22918" y="10277159"/>
                  </a:lnTo>
                  <a:lnTo>
                    <a:pt x="11416" y="10277159"/>
                  </a:lnTo>
                  <a:lnTo>
                    <a:pt x="11416" y="10260630"/>
                  </a:lnTo>
                  <a:lnTo>
                    <a:pt x="52617" y="10260630"/>
                  </a:lnTo>
                  <a:lnTo>
                    <a:pt x="52617" y="10277159"/>
                  </a:lnTo>
                  <a:lnTo>
                    <a:pt x="41201" y="10277159"/>
                  </a:lnTo>
                  <a:lnTo>
                    <a:pt x="41201" y="16529"/>
                  </a:lnTo>
                  <a:lnTo>
                    <a:pt x="52617" y="16529"/>
                  </a:lnTo>
                  <a:lnTo>
                    <a:pt x="52617" y="33183"/>
                  </a:lnTo>
                  <a:lnTo>
                    <a:pt x="11416" y="33183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92640" y="2124710"/>
            <a:ext cx="7863840" cy="640080"/>
            <a:chOff x="0" y="0"/>
            <a:chExt cx="1048512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048512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b="true" sz="2599" spc="519">
                  <a:solidFill>
                    <a:srgbClr val="F37335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LIMITATIONS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92640" y="2847346"/>
            <a:ext cx="7863840" cy="914400"/>
            <a:chOff x="0" y="0"/>
            <a:chExt cx="1048512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571" r="0" b="-10957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0485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DHT11 accuracy ±2°C — acceptable, makes alerts conservative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92640" y="3687572"/>
            <a:ext cx="7863840" cy="914400"/>
            <a:chOff x="0" y="0"/>
            <a:chExt cx="1048512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571" r="0" b="-10957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0485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Currently wired between wristband and supervisor station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79943" y="4486913"/>
            <a:ext cx="7863840" cy="1152144"/>
            <a:chOff x="0" y="0"/>
            <a:chExt cx="10485120" cy="15361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485120" cy="1536192"/>
            </a:xfrm>
            <a:custGeom>
              <a:avLst/>
              <a:gdLst/>
              <a:ahLst/>
              <a:cxnLst/>
              <a:rect r="r" b="b" t="t" l="l"/>
              <a:pathLst>
                <a:path h="15361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659" r="0" b="-663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0485120" cy="15933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Pulse sensor dropped — unreliable on moving wrist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0" y="5577840"/>
            <a:ext cx="7863840" cy="640080"/>
            <a:chOff x="0" y="0"/>
            <a:chExt cx="1048512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0485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520">
                  <a:solidFill>
                    <a:srgbClr val="F37335"/>
                  </a:solidFill>
                  <a:latin typeface="Helvetica Now Display Bold"/>
                  <a:ea typeface="Helvetica Now Display Bold"/>
                  <a:cs typeface="Helvetica Now Display Bold"/>
                  <a:sym typeface="Helvetica Now Display Bold"/>
                </a:rPr>
                <a:t>FUTURE SCOPE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314115" y="6364224"/>
            <a:ext cx="7863840" cy="975868"/>
            <a:chOff x="0" y="0"/>
            <a:chExt cx="10485120" cy="130115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85120" cy="1301157"/>
            </a:xfrm>
            <a:custGeom>
              <a:avLst/>
              <a:gdLst/>
              <a:ahLst/>
              <a:cxnLst/>
              <a:rect r="r" b="b" t="t" l="l"/>
              <a:pathLst>
                <a:path h="130115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01157"/>
                  </a:lnTo>
                  <a:lnTo>
                    <a:pt x="0" y="13011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661" r="0" b="-9637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0"/>
              <a:ext cx="10485120" cy="139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5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ESP32 WiFi — wireless multi-worker real-time monitoring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314115" y="7278624"/>
            <a:ext cx="7863840" cy="975868"/>
            <a:chOff x="0" y="0"/>
            <a:chExt cx="10485120" cy="130115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485120" cy="1301157"/>
            </a:xfrm>
            <a:custGeom>
              <a:avLst/>
              <a:gdLst/>
              <a:ahLst/>
              <a:cxnLst/>
              <a:rect r="r" b="b" t="t" l="l"/>
              <a:pathLst>
                <a:path h="130115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01157"/>
                  </a:lnTo>
                  <a:lnTo>
                    <a:pt x="0" y="13011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661" r="0" b="-9637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10485120" cy="139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5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Pulse sensor (finger clip) for heart rate confirmation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314115" y="8254492"/>
            <a:ext cx="7863840" cy="975868"/>
            <a:chOff x="0" y="0"/>
            <a:chExt cx="10485120" cy="130115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1301157"/>
            </a:xfrm>
            <a:custGeom>
              <a:avLst/>
              <a:gdLst/>
              <a:ahLst/>
              <a:cxnLst/>
              <a:rect r="r" b="b" t="t" l="l"/>
              <a:pathLst>
                <a:path h="130115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01157"/>
                  </a:lnTo>
                  <a:lnTo>
                    <a:pt x="0" y="13011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661" r="0" b="-9637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0"/>
              <a:ext cx="10485120" cy="1396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5"/>
                </a:lnSpc>
              </a:pPr>
              <a:r>
                <a:rPr lang="en-US" b="true" sz="2599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Mobile dashboard for supervisors with data logging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54603" y="9697085"/>
            <a:ext cx="16824960" cy="548640"/>
            <a:chOff x="0" y="0"/>
            <a:chExt cx="2243328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Source: IMD Heatwave Forecast April-June 2026  |  Maharashtra worker deaths, April 2026  |  US NWS Heat Index Formula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26113" y="6545580"/>
            <a:ext cx="464315" cy="464315"/>
            <a:chOff x="0" y="0"/>
            <a:chExt cx="619087" cy="61908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26113" y="7474210"/>
            <a:ext cx="464315" cy="464315"/>
            <a:chOff x="0" y="0"/>
            <a:chExt cx="619087" cy="6190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26113" y="8439275"/>
            <a:ext cx="464315" cy="464315"/>
            <a:chOff x="0" y="0"/>
            <a:chExt cx="619087" cy="61908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061798" y="2870965"/>
            <a:ext cx="464315" cy="464315"/>
            <a:chOff x="0" y="0"/>
            <a:chExt cx="619087" cy="61908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061798" y="3687572"/>
            <a:ext cx="464315" cy="464315"/>
            <a:chOff x="0" y="0"/>
            <a:chExt cx="619087" cy="61908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061798" y="4679185"/>
            <a:ext cx="464315" cy="464315"/>
            <a:chOff x="0" y="0"/>
            <a:chExt cx="619087" cy="61908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19125" cy="618998"/>
            </a:xfrm>
            <a:custGeom>
              <a:avLst/>
              <a:gdLst/>
              <a:ahLst/>
              <a:cxnLst/>
              <a:rect r="r" b="b" t="t" l="l"/>
              <a:pathLst>
                <a:path h="618998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DAHIIhftuz8</dc:identifier>
  <dcterms:modified xsi:type="dcterms:W3CDTF">2011-08-01T06:04:30Z</dcterms:modified>
  <cp:revision>1</cp:revision>
  <dc:title>Heat Stress Guardian: Safety System Overview</dc:title>
</cp:coreProperties>
</file>